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ecointeligencia.com/tag/big-data/"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713863" y="883828"/>
            <a:ext cx="10515600" cy="2852737"/>
          </a:xfrm>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03273612"/>
              </p:ext>
            </p:extLst>
          </p:nvPr>
        </p:nvGraphicFramePr>
        <p:xfrm>
          <a:off x="1299257" y="2600315"/>
          <a:ext cx="10202118" cy="3171220"/>
        </p:xfrm>
        <a:graphic>
          <a:graphicData uri="http://schemas.openxmlformats.org/drawingml/2006/table">
            <a:tbl>
              <a:tblPr>
                <a:noFill/>
                <a:tableStyleId>{0AAD8F4D-43EB-41E5-8A38-28AB6DFB1B60}</a:tableStyleId>
              </a:tblPr>
              <a:tblGrid>
                <a:gridCol w="2242260">
                  <a:extLst>
                    <a:ext uri="{9D8B030D-6E8A-4147-A177-3AD203B41FA5}">
                      <a16:colId xmlns:a16="http://schemas.microsoft.com/office/drawing/2014/main" val="20000"/>
                    </a:ext>
                  </a:extLst>
                </a:gridCol>
                <a:gridCol w="2249683">
                  <a:extLst>
                    <a:ext uri="{9D8B030D-6E8A-4147-A177-3AD203B41FA5}">
                      <a16:colId xmlns:a16="http://schemas.microsoft.com/office/drawing/2014/main" val="20002"/>
                    </a:ext>
                  </a:extLst>
                </a:gridCol>
                <a:gridCol w="3056889">
                  <a:extLst>
                    <a:ext uri="{9D8B030D-6E8A-4147-A177-3AD203B41FA5}">
                      <a16:colId xmlns:a16="http://schemas.microsoft.com/office/drawing/2014/main" val="20003"/>
                    </a:ext>
                  </a:extLst>
                </a:gridCol>
                <a:gridCol w="2653286">
                  <a:extLst>
                    <a:ext uri="{9D8B030D-6E8A-4147-A177-3AD203B41FA5}">
                      <a16:colId xmlns:a16="http://schemas.microsoft.com/office/drawing/2014/main" val="20004"/>
                    </a:ext>
                  </a:extLst>
                </a:gridCol>
              </a:tblGrid>
              <a:tr h="1424165">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747055">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 Akash Debbarma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akashdebbarma.cse@gmail.com</a:t>
                      </a:r>
                      <a:endParaRPr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+91 6009636806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Agriculture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461866"/>
            <a:ext cx="9581177" cy="461665"/>
          </a:xfrm>
          <a:prstGeom prst="rect">
            <a:avLst/>
          </a:prstGeom>
          <a:noFill/>
        </p:spPr>
        <p:txBody>
          <a:bodyPr wrap="square" rtlCol="0">
            <a:spAutoFit/>
          </a:bodyPr>
          <a:lstStyle/>
          <a:p>
            <a:r>
              <a:rPr lang="en-US" sz="2400" b="1" dirty="0"/>
              <a:t>Project Tile – </a:t>
            </a:r>
            <a:r>
              <a:rPr lang="en-IN" sz="2400" b="1" u="sng" dirty="0"/>
              <a:t>AI Agent for Smart Farming Advice </a:t>
            </a:r>
            <a:endParaRPr lang="en-IN" sz="2400" b="1" u="sng" dirty="0">
              <a:highlight>
                <a:srgbClr val="FFFF00"/>
              </a:highlight>
            </a:endParaRPr>
          </a:p>
        </p:txBody>
      </p:sp>
      <p:pic>
        <p:nvPicPr>
          <p:cNvPr id="3" name="Picture 2">
            <a:extLst>
              <a:ext uri="{FF2B5EF4-FFF2-40B4-BE49-F238E27FC236}">
                <a16:creationId xmlns:a16="http://schemas.microsoft.com/office/drawing/2014/main" id="{61DB13C5-3308-5CA3-3796-2747F02724EE}"/>
              </a:ext>
            </a:extLst>
          </p:cNvPr>
          <p:cNvPicPr>
            <a:picLocks noChangeAspect="1"/>
          </p:cNvPicPr>
          <p:nvPr/>
        </p:nvPicPr>
        <p:blipFill>
          <a:blip r:embed="rId3"/>
          <a:stretch>
            <a:fillRect/>
          </a:stretch>
        </p:blipFill>
        <p:spPr>
          <a:xfrm>
            <a:off x="3927855" y="4105284"/>
            <a:ext cx="1460705" cy="1578077"/>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627869"/>
            <a:ext cx="10607040" cy="3323987"/>
          </a:xfrm>
          <a:prstGeom prst="rect">
            <a:avLst/>
          </a:prstGeom>
          <a:noFill/>
        </p:spPr>
        <p:txBody>
          <a:bodyPr wrap="square" rtlCol="0">
            <a:spAutoFit/>
          </a:bodyPr>
          <a:lstStyle/>
          <a:p>
            <a:pPr fontAlgn="base"/>
            <a:r>
              <a:rPr lang="en-US" sz="2000" b="1" dirty="0"/>
              <a:t>Problem Statement :</a:t>
            </a:r>
            <a:r>
              <a:rPr lang="en-IN" sz="2000" dirty="0"/>
              <a:t>AI Agent for Smart Farming Advice</a:t>
            </a:r>
          </a:p>
          <a:p>
            <a:pPr fontAlgn="base"/>
            <a:endParaRPr lang="en-IN" dirty="0"/>
          </a:p>
          <a:p>
            <a:pPr fontAlgn="base"/>
            <a:r>
              <a:rPr lang="en-IN" dirty="0"/>
              <a:t> </a:t>
            </a:r>
            <a:endParaRPr lang="en-US" dirty="0"/>
          </a:p>
          <a:p>
            <a:pPr fontAlgn="base"/>
            <a:r>
              <a:rPr lang="en-IN" sz="1800" b="1" dirty="0"/>
              <a:t>The Challenge </a:t>
            </a:r>
            <a:r>
              <a:rPr lang="en-IN" dirty="0"/>
              <a:t>– </a:t>
            </a:r>
            <a:r>
              <a:rPr lang="en-IN" sz="1600" dirty="0"/>
              <a:t>An AI Agent for Smart Farming Advice, powered by RAG (Retrieval-Augmented Generation), supports small-scale farmers by delivering real-time, localized agricultural guidance. It retrieves trusted data on weather forecasts, soil conditions, crop recommendations, pest control measures, and current market prices from agricultural departments, meteorological sources, and </a:t>
            </a:r>
            <a:r>
              <a:rPr lang="en-IN" sz="1600" dirty="0" err="1"/>
              <a:t>agritech</a:t>
            </a:r>
            <a:r>
              <a:rPr lang="en-IN" sz="1600" dirty="0"/>
              <a:t> platforms. Farmers can interact in their local language and ask questions like “What crop is best for this season?” or “What is today’s mandi rate for tomatoes?” The agent ensures timely, data-driven decisions that reduce risk, increase yield, and boost income. This AI-driven assistant bridges the knowledge gap and brings smart farming to the grassroots.</a:t>
            </a:r>
          </a:p>
          <a:p>
            <a:pPr fontAlgn="base"/>
            <a:endParaRPr lang="en-IN" sz="1600" dirty="0"/>
          </a:p>
          <a:p>
            <a:pPr fontAlgn="base"/>
            <a:endParaRPr lang="en-IN" dirty="0"/>
          </a:p>
          <a:p>
            <a:pPr fontAlgn="base"/>
            <a:r>
              <a:rPr lang="en-IN" sz="2000" b="1" dirty="0"/>
              <a:t>Technology</a:t>
            </a:r>
            <a:r>
              <a:rPr lang="en-IN" dirty="0"/>
              <a:t> </a:t>
            </a:r>
            <a:r>
              <a:rPr lang="en-IN" sz="1600" dirty="0"/>
              <a:t>– Use of IBM Cloud Lite services / IBM Granite is mandatory.</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78423"/>
          </a:xfrm>
          <a:prstGeom prst="rect">
            <a:avLst/>
          </a:prstGeom>
          <a:noFill/>
        </p:spPr>
        <p:txBody>
          <a:bodyPr wrap="square" rtlCol="0">
            <a:spAutoFit/>
          </a:bodyPr>
          <a:lstStyle/>
          <a:p>
            <a:r>
              <a:rPr lang="en-IN" b="1" dirty="0" err="1"/>
              <a:t>KrishiMitra</a:t>
            </a:r>
            <a:r>
              <a:rPr lang="en-IN" b="1" dirty="0"/>
              <a:t> AI — AI-Powered Smart Farming Assistant</a:t>
            </a:r>
          </a:p>
          <a:p>
            <a:r>
              <a:rPr lang="en-IN" b="1" dirty="0" err="1"/>
              <a:t>KrishiMitra</a:t>
            </a:r>
            <a:r>
              <a:rPr lang="en-IN" b="1" dirty="0"/>
              <a:t> AI</a:t>
            </a:r>
            <a:r>
              <a:rPr lang="en-IN" dirty="0"/>
              <a:t> is a RAG-based Agentic AI solution designed to provide small-scale farmers with reliable, localized, and actionable agricultural guidance.</a:t>
            </a:r>
          </a:p>
          <a:p>
            <a:r>
              <a:rPr lang="en-IN" b="1" dirty="0"/>
              <a:t>Core Solution</a:t>
            </a:r>
          </a:p>
          <a:p>
            <a:r>
              <a:rPr lang="en-IN" b="1" dirty="0"/>
              <a:t>1. Intelligent Farmer Interaction</a:t>
            </a:r>
            <a:br>
              <a:rPr lang="en-IN" dirty="0"/>
            </a:br>
            <a:r>
              <a:rPr lang="en-IN" dirty="0"/>
              <a:t>The farmer enters a question related to crop selection, weather, soil, pest management, or market prices using natural language.</a:t>
            </a:r>
          </a:p>
          <a:p>
            <a:r>
              <a:rPr lang="en-IN" b="1" dirty="0"/>
              <a:t>2. Retrieval-Augmented Generation (RAG)</a:t>
            </a:r>
            <a:br>
              <a:rPr lang="en-IN" dirty="0"/>
            </a:br>
            <a:r>
              <a:rPr lang="en-IN" dirty="0"/>
              <a:t>The system retrieves relevant information from trusted agricultural knowledge sources before generating an answer. This improves the relevance and reliability of the response.</a:t>
            </a:r>
          </a:p>
          <a:p>
            <a:r>
              <a:rPr lang="en-IN" b="1" dirty="0"/>
              <a:t>3. IBM Granite for AI Reasoning</a:t>
            </a:r>
            <a:br>
              <a:rPr lang="en-IN" dirty="0"/>
            </a:br>
            <a:r>
              <a:rPr lang="en-IN" dirty="0"/>
              <a:t>IBM Granite processes the retrieved information, understands the farmer's question, and generates a clear, context-aware recommendation.</a:t>
            </a:r>
          </a:p>
          <a:p>
            <a:r>
              <a:rPr lang="en-IN" b="1" dirty="0"/>
              <a:t>4. IBM Bob Agent Orchestration</a:t>
            </a:r>
            <a:br>
              <a:rPr lang="en-IN" dirty="0"/>
            </a:br>
            <a:r>
              <a:rPr lang="en-IN" dirty="0"/>
              <a:t>IBM Bob is used to design and orchestrate the agent workflow, connecting the different stages of retrieval, processing, and response generation.</a:t>
            </a:r>
          </a:p>
          <a:p>
            <a:r>
              <a:rPr lang="en-IN" b="1" dirty="0"/>
              <a:t>5. Actionable Farming Advice</a:t>
            </a:r>
            <a:br>
              <a:rPr lang="en-IN" dirty="0"/>
            </a:br>
            <a:r>
              <a:rPr lang="en-IN" dirty="0"/>
              <a:t>The final response helps farmers make informed decisions regarding:</a:t>
            </a:r>
          </a:p>
          <a:p>
            <a:pPr lvl="0"/>
            <a:r>
              <a:rPr lang="en-IN" dirty="0"/>
              <a:t>Crop selection and seasonal planning </a:t>
            </a:r>
          </a:p>
          <a:p>
            <a:pPr lvl="0"/>
            <a:r>
              <a:rPr lang="en-IN" dirty="0"/>
              <a:t>Weather-based farming decisions </a:t>
            </a:r>
          </a:p>
          <a:p>
            <a:pPr lvl="0"/>
            <a:r>
              <a:rPr lang="en-IN" dirty="0"/>
              <a:t>Soil and crop requirements </a:t>
            </a:r>
          </a:p>
          <a:p>
            <a:pPr lvl="0"/>
            <a:r>
              <a:rPr lang="en-IN" dirty="0"/>
              <a:t>Pest and disease management </a:t>
            </a:r>
          </a:p>
          <a:p>
            <a:pPr lvl="0"/>
            <a:r>
              <a:rPr lang="en-IN" dirty="0"/>
              <a:t>Agricultural market and mandi information </a:t>
            </a:r>
          </a:p>
          <a:p>
            <a:r>
              <a:rPr lang="en-IN" b="1" dirty="0"/>
              <a:t>Expected Impact</a:t>
            </a:r>
          </a:p>
          <a:p>
            <a:r>
              <a:rPr lang="en-IN" b="1" dirty="0"/>
              <a:t>Trusted Agricultural Data → RAG Retrieval → IBM Granite → Agentic Processing → Smart Farming Recommendation</a:t>
            </a:r>
            <a:endParaRPr lang="en-IN" dirty="0"/>
          </a:p>
          <a:p>
            <a:r>
              <a:rPr lang="en-IN" b="1" dirty="0"/>
              <a:t>Goal:</a:t>
            </a:r>
            <a:r>
              <a:rPr lang="en-IN" dirty="0"/>
              <a:t> Reduce decision-making risks, improve productivity, and help farmers make better data-driven farming decisions.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157847"/>
            <a:ext cx="10515600" cy="5047536"/>
          </a:xfrm>
          <a:prstGeom prst="rect">
            <a:avLst/>
          </a:prstGeom>
          <a:noFill/>
        </p:spPr>
        <p:txBody>
          <a:bodyPr wrap="square" rtlCol="0">
            <a:spAutoFit/>
          </a:bodyPr>
          <a:lstStyle/>
          <a:p>
            <a:pPr marL="285750" indent="-285750">
              <a:buFont typeface="Arial" panose="020B0604020202020204" pitchFamily="34" charset="0"/>
              <a:buChar char="•"/>
            </a:pPr>
            <a:r>
              <a:rPr lang="en-IN" sz="1800" b="1" dirty="0"/>
              <a:t>IBM Bob</a:t>
            </a:r>
            <a:br>
              <a:rPr lang="en-IN" sz="1800" dirty="0"/>
            </a:br>
            <a:r>
              <a:rPr lang="en-IN" sz="1600" dirty="0"/>
              <a:t>Used to visually design and orchestrate the Agentic AI workflow, connecting the different components of the smart farming solution.</a:t>
            </a:r>
          </a:p>
          <a:p>
            <a:pPr marL="285750" indent="-285750">
              <a:buFont typeface="Arial" panose="020B0604020202020204" pitchFamily="34" charset="0"/>
              <a:buChar char="•"/>
            </a:pPr>
            <a:r>
              <a:rPr lang="en-IN" sz="1800" b="1" dirty="0"/>
              <a:t>IBM Granite</a:t>
            </a:r>
            <a:br>
              <a:rPr lang="en-IN" sz="1800" dirty="0"/>
            </a:br>
            <a:r>
              <a:rPr lang="en-IN" sz="1600" dirty="0"/>
              <a:t>Used as the core generative AI model for understanding farmer queries, reasoning over retrieved information, and generating relevant farming recommendations</a:t>
            </a:r>
            <a:r>
              <a:rPr lang="en-IN" sz="1800" dirty="0"/>
              <a:t>.</a:t>
            </a:r>
          </a:p>
          <a:p>
            <a:pPr marL="285750" indent="-285750">
              <a:buFont typeface="Arial" panose="020B0604020202020204" pitchFamily="34" charset="0"/>
              <a:buChar char="•"/>
            </a:pPr>
            <a:r>
              <a:rPr lang="en-IN" sz="1800" b="1" dirty="0"/>
              <a:t>IBM Cloud</a:t>
            </a:r>
            <a:br>
              <a:rPr lang="en-IN" sz="1800" dirty="0"/>
            </a:br>
            <a:r>
              <a:rPr lang="en-IN" sz="1600" dirty="0"/>
              <a:t>Provides the cloud environment and infrastructure required to build, run, and deploy the AI-powered farming solution</a:t>
            </a:r>
            <a:r>
              <a:rPr lang="en-IN" sz="1800" dirty="0"/>
              <a:t>.</a:t>
            </a:r>
          </a:p>
          <a:p>
            <a:pPr marL="285750" indent="-285750">
              <a:buFont typeface="Arial" panose="020B0604020202020204" pitchFamily="34" charset="0"/>
              <a:buChar char="•"/>
            </a:pPr>
            <a:r>
              <a:rPr lang="en-IN" sz="1800" b="1" dirty="0"/>
              <a:t>Retrieval-Augmented Generation (RAG)</a:t>
            </a:r>
            <a:br>
              <a:rPr lang="en-IN" sz="1800" dirty="0"/>
            </a:br>
            <a:r>
              <a:rPr lang="en-IN" sz="1600" dirty="0"/>
              <a:t>Retrieves relevant agricultural information from the knowledge base before generating an answer, helping the agent provide more reliable and context-aware responses</a:t>
            </a:r>
            <a:r>
              <a:rPr lang="en-IN" sz="1800" dirty="0"/>
              <a:t>.</a:t>
            </a:r>
          </a:p>
          <a:p>
            <a:pPr marL="285750" indent="-285750">
              <a:buFont typeface="Arial" panose="020B0604020202020204" pitchFamily="34" charset="0"/>
              <a:buChar char="•"/>
            </a:pPr>
            <a:r>
              <a:rPr lang="en-IN" sz="1800" b="1" dirty="0"/>
              <a:t>Vector Database</a:t>
            </a:r>
            <a:br>
              <a:rPr lang="en-IN" sz="1800" dirty="0"/>
            </a:br>
            <a:r>
              <a:rPr lang="en-IN" sz="1600" dirty="0"/>
              <a:t>Stores embedded agricultural knowledge and enables semantic retrieval of information relevant to a farmer's query</a:t>
            </a:r>
            <a:r>
              <a:rPr lang="en-IN" sz="1800" dirty="0"/>
              <a:t>.</a:t>
            </a:r>
          </a:p>
          <a:p>
            <a:pPr marL="285750" indent="-285750">
              <a:buFont typeface="Arial" panose="020B0604020202020204" pitchFamily="34" charset="0"/>
              <a:buChar char="•"/>
            </a:pPr>
            <a:r>
              <a:rPr lang="en-IN" sz="1800" b="1" dirty="0"/>
              <a:t>Agentic AI</a:t>
            </a:r>
            <a:br>
              <a:rPr lang="en-IN" sz="1800" dirty="0"/>
            </a:br>
            <a:r>
              <a:rPr lang="en-IN" sz="1600" dirty="0"/>
              <a:t>Enables the system to perform multiple intelligent steps such as understanding the query, retrieving information, processing the context, and generating a final recommendation.</a:t>
            </a:r>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177C27AC-BCD0-BEB7-B550-748623EA0AB7}"/>
              </a:ext>
            </a:extLst>
          </p:cNvPr>
          <p:cNvPicPr>
            <a:picLocks noChangeAspect="1"/>
          </p:cNvPicPr>
          <p:nvPr/>
        </p:nvPicPr>
        <p:blipFill>
          <a:blip r:embed="rId3"/>
          <a:stretch>
            <a:fillRect/>
          </a:stretch>
        </p:blipFill>
        <p:spPr>
          <a:xfrm>
            <a:off x="983226" y="863187"/>
            <a:ext cx="10009239" cy="5304503"/>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329088F0-25CA-AB05-54FE-2FA7C1686975}"/>
              </a:ext>
            </a:extLst>
          </p:cNvPr>
          <p:cNvPicPr>
            <a:picLocks noChangeAspect="1"/>
          </p:cNvPicPr>
          <p:nvPr/>
        </p:nvPicPr>
        <p:blipFill>
          <a:blip r:embed="rId3"/>
          <a:stretch>
            <a:fillRect/>
          </a:stretch>
        </p:blipFill>
        <p:spPr>
          <a:xfrm>
            <a:off x="747252" y="983226"/>
            <a:ext cx="10451690" cy="566072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63324F-DEBD-ADE6-7F98-12B7BE399BB5}"/>
              </a:ext>
            </a:extLst>
          </p:cNvPr>
          <p:cNvPicPr>
            <a:picLocks noChangeAspect="1"/>
          </p:cNvPicPr>
          <p:nvPr/>
        </p:nvPicPr>
        <p:blipFill>
          <a:blip r:embed="rId2"/>
          <a:stretch>
            <a:fillRect/>
          </a:stretch>
        </p:blipFill>
        <p:spPr>
          <a:xfrm>
            <a:off x="776748" y="337660"/>
            <a:ext cx="10638504" cy="618268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374870E6-5DEA-42F3-738B-63F7B20DC805}"/>
              </a:ext>
            </a:extLst>
          </p:cNvPr>
          <p:cNvPicPr>
            <a:picLocks noChangeAspect="1"/>
          </p:cNvPicPr>
          <p:nvPr/>
        </p:nvPicPr>
        <p:blipFill>
          <a:blip r:embed="rId3"/>
          <a:srcRect t="6685" b="-1200"/>
          <a:stretch>
            <a:fillRect/>
          </a:stretch>
        </p:blipFill>
        <p:spPr>
          <a:xfrm>
            <a:off x="698090" y="884904"/>
            <a:ext cx="10933471" cy="5422489"/>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IN" dirty="0"/>
              <a:t>Agentic AI enables </a:t>
            </a:r>
            <a:r>
              <a:rPr lang="en-IN" dirty="0" err="1"/>
              <a:t>KrishiMitra</a:t>
            </a:r>
            <a:r>
              <a:rPr lang="en-IN" dirty="0"/>
              <a:t> AI to work as an </a:t>
            </a:r>
            <a:r>
              <a:rPr lang="en-IN" b="1" dirty="0"/>
              <a:t>intelligent, goal-oriented farming assistant</a:t>
            </a:r>
            <a:r>
              <a:rPr lang="en-IN" dirty="0"/>
              <a:t> rather than a simple question-and-answer chatbot.</a:t>
            </a:r>
          </a:p>
          <a:p>
            <a:r>
              <a:rPr lang="en-IN" b="1" dirty="0"/>
              <a:t>Key Roles</a:t>
            </a:r>
          </a:p>
          <a:p>
            <a:r>
              <a:rPr lang="en-IN" b="1" dirty="0"/>
              <a:t>1. Query Understanding</a:t>
            </a:r>
            <a:br>
              <a:rPr lang="en-IN" dirty="0"/>
            </a:br>
            <a:r>
              <a:rPr lang="en-IN" dirty="0"/>
              <a:t>The agent understands the farmer's question and identifies the type of agricultural information required.</a:t>
            </a:r>
          </a:p>
          <a:p>
            <a:r>
              <a:rPr lang="en-IN" b="1" dirty="0"/>
              <a:t>2. Intelligent Information Retrieval</a:t>
            </a:r>
            <a:br>
              <a:rPr lang="en-IN" dirty="0"/>
            </a:br>
            <a:r>
              <a:rPr lang="en-IN" dirty="0"/>
              <a:t>The agent retrieves relevant information from the available agricultural knowledge base using the RAG approach.</a:t>
            </a:r>
          </a:p>
          <a:p>
            <a:r>
              <a:rPr lang="en-IN" b="1" dirty="0"/>
              <a:t>3. Context-Aware Reasoning</a:t>
            </a:r>
            <a:br>
              <a:rPr lang="en-IN" dirty="0"/>
            </a:br>
            <a:r>
              <a:rPr lang="en-IN" dirty="0"/>
              <a:t>IBM Granite </a:t>
            </a:r>
            <a:r>
              <a:rPr lang="en-IN" dirty="0" err="1"/>
              <a:t>analyzes</a:t>
            </a:r>
            <a:r>
              <a:rPr lang="en-IN" dirty="0"/>
              <a:t> the farmer's query together with the retrieved information to generate a relevant response.</a:t>
            </a:r>
          </a:p>
          <a:p>
            <a:r>
              <a:rPr lang="en-IN" b="1" dirty="0"/>
              <a:t>4. Multi-Step Decision Making</a:t>
            </a:r>
            <a:br>
              <a:rPr lang="en-IN" dirty="0"/>
            </a:br>
            <a:r>
              <a:rPr lang="en-IN" dirty="0"/>
              <a:t>The agent can coordinate multiple steps such as understanding the query, retrieving information, processing context, and generating advice.</a:t>
            </a:r>
          </a:p>
          <a:p>
            <a:r>
              <a:rPr lang="en-IN" b="1" dirty="0"/>
              <a:t>5. Personalized Recommendations</a:t>
            </a:r>
            <a:br>
              <a:rPr lang="en-IN" dirty="0"/>
            </a:br>
            <a:r>
              <a:rPr lang="en-IN" dirty="0"/>
              <a:t>Based on the available context, the system can provide more relevant recommendations for crop selection, weather-related decisions, pest management, and other farming needs.</a:t>
            </a:r>
          </a:p>
          <a:p>
            <a:r>
              <a:rPr lang="en-IN" b="1" dirty="0"/>
              <a:t>6. Autonomous Workflow Orchestration</a:t>
            </a:r>
            <a:br>
              <a:rPr lang="en-IN" dirty="0"/>
            </a:br>
            <a:r>
              <a:rPr lang="en-IN" dirty="0"/>
              <a:t>IBM Bob helps orchestrate the agent workflow so that different components work together efficiently.</a:t>
            </a:r>
          </a:p>
        </p:txBody>
      </p:sp>
      <p:pic>
        <p:nvPicPr>
          <p:cNvPr id="5" name="Picture 4">
            <a:extLst>
              <a:ext uri="{FF2B5EF4-FFF2-40B4-BE49-F238E27FC236}">
                <a16:creationId xmlns:a16="http://schemas.microsoft.com/office/drawing/2014/main" id="{7680C09F-28E1-C56C-0633-E802F63FF1C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563896" y="1376350"/>
            <a:ext cx="2792625" cy="3810330"/>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01216"/>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90D50F92-1DFF-6E4B-3E4A-F91945BA711F}"/>
              </a:ext>
            </a:extLst>
          </p:cNvPr>
          <p:cNvPicPr>
            <a:picLocks noChangeAspect="1"/>
          </p:cNvPicPr>
          <p:nvPr/>
        </p:nvPicPr>
        <p:blipFill>
          <a:blip r:embed="rId3"/>
          <a:stretch>
            <a:fillRect/>
          </a:stretch>
        </p:blipFill>
        <p:spPr>
          <a:xfrm>
            <a:off x="6066033" y="2476668"/>
            <a:ext cx="5242488" cy="2570909"/>
          </a:xfrm>
          <a:prstGeom prst="rect">
            <a:avLst/>
          </a:prstGeom>
        </p:spPr>
      </p:pic>
      <p:pic>
        <p:nvPicPr>
          <p:cNvPr id="7" name="Picture 6">
            <a:extLst>
              <a:ext uri="{FF2B5EF4-FFF2-40B4-BE49-F238E27FC236}">
                <a16:creationId xmlns:a16="http://schemas.microsoft.com/office/drawing/2014/main" id="{E77333DA-F373-89D3-BA1C-65D1479EF845}"/>
              </a:ext>
            </a:extLst>
          </p:cNvPr>
          <p:cNvPicPr>
            <a:picLocks noChangeAspect="1"/>
          </p:cNvPicPr>
          <p:nvPr/>
        </p:nvPicPr>
        <p:blipFill>
          <a:blip r:embed="rId4"/>
          <a:stretch>
            <a:fillRect/>
          </a:stretch>
        </p:blipFill>
        <p:spPr>
          <a:xfrm>
            <a:off x="462592" y="2387377"/>
            <a:ext cx="5249001" cy="2622222"/>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FBF46C48-59C3-E664-8F98-C855EC8EB372}"/>
              </a:ext>
            </a:extLst>
          </p:cNvPr>
          <p:cNvPicPr>
            <a:picLocks noChangeAspect="1"/>
          </p:cNvPicPr>
          <p:nvPr/>
        </p:nvPicPr>
        <p:blipFill>
          <a:blip r:embed="rId3"/>
          <a:stretch>
            <a:fillRect/>
          </a:stretch>
        </p:blipFill>
        <p:spPr>
          <a:xfrm>
            <a:off x="875627" y="939204"/>
            <a:ext cx="9851366" cy="560807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925ECF49-6134-41C5-F019-4F736301995E}"/>
              </a:ext>
            </a:extLst>
          </p:cNvPr>
          <p:cNvPicPr>
            <a:picLocks noChangeAspect="1"/>
          </p:cNvPicPr>
          <p:nvPr/>
        </p:nvPicPr>
        <p:blipFill>
          <a:blip r:embed="rId3"/>
          <a:stretch>
            <a:fillRect/>
          </a:stretch>
        </p:blipFill>
        <p:spPr>
          <a:xfrm>
            <a:off x="816077" y="727586"/>
            <a:ext cx="10776156" cy="594816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3F7C4613-4A8B-D50A-91C9-0A634B60D318}"/>
              </a:ext>
            </a:extLst>
          </p:cNvPr>
          <p:cNvPicPr>
            <a:picLocks noChangeAspect="1"/>
          </p:cNvPicPr>
          <p:nvPr/>
        </p:nvPicPr>
        <p:blipFill>
          <a:blip r:embed="rId3"/>
          <a:stretch>
            <a:fillRect/>
          </a:stretch>
        </p:blipFill>
        <p:spPr>
          <a:xfrm>
            <a:off x="1218724" y="707923"/>
            <a:ext cx="9891253" cy="593167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62979"/>
          </a:xfrm>
          <a:prstGeom prst="rect">
            <a:avLst/>
          </a:prstGeom>
          <a:noFill/>
        </p:spPr>
        <p:txBody>
          <a:bodyPr wrap="square" rtlCol="0">
            <a:spAutoFit/>
          </a:bodyPr>
          <a:lstStyle/>
          <a:p>
            <a:r>
              <a:rPr lang="en-IN" sz="1600" b="1" dirty="0"/>
              <a:t>What Makes </a:t>
            </a:r>
            <a:r>
              <a:rPr lang="en-IN" sz="1600" b="1" dirty="0" err="1"/>
              <a:t>KrishiMitra</a:t>
            </a:r>
            <a:r>
              <a:rPr lang="en-IN" sz="1600" b="1" dirty="0"/>
              <a:t> AI Different:</a:t>
            </a:r>
          </a:p>
          <a:p>
            <a:r>
              <a:rPr lang="en-IN" sz="1600" b="1" dirty="0"/>
              <a:t>1. RAG-Based Agricultural Intelligence</a:t>
            </a:r>
            <a:br>
              <a:rPr lang="en-IN" sz="1600" dirty="0"/>
            </a:br>
            <a:r>
              <a:rPr lang="en-IN" sz="1600" dirty="0"/>
              <a:t>Uses Retrieval-Augmented Generation to retrieve relevant agricultural information before generating responses, improving the reliability of farming advice.</a:t>
            </a:r>
          </a:p>
          <a:p>
            <a:r>
              <a:rPr lang="en-IN" sz="1600" b="1" dirty="0"/>
              <a:t>2. Agentic AI Workflow</a:t>
            </a:r>
            <a:br>
              <a:rPr lang="en-IN" sz="1600" dirty="0"/>
            </a:br>
            <a:r>
              <a:rPr lang="en-IN" sz="1600" dirty="0"/>
              <a:t>Goes beyond a basic chatbot by using an intelligent workflow to understand queries, retrieve information, process context, and generate recommendations.</a:t>
            </a:r>
          </a:p>
          <a:p>
            <a:r>
              <a:rPr lang="en-IN" sz="1600" b="1" dirty="0"/>
              <a:t>3. IBM Granite-Powered Reasoning</a:t>
            </a:r>
            <a:br>
              <a:rPr lang="en-IN" sz="1600" dirty="0"/>
            </a:br>
            <a:r>
              <a:rPr lang="en-IN" sz="1600" dirty="0"/>
              <a:t>Uses IBM Granite to understand natural-language farmer queries and generate context-aware agricultural guidance.</a:t>
            </a:r>
          </a:p>
          <a:p>
            <a:r>
              <a:rPr lang="en-IN" sz="1600" b="1" dirty="0"/>
              <a:t>4. Localized Farming Support</a:t>
            </a:r>
            <a:br>
              <a:rPr lang="en-IN" sz="1600" dirty="0"/>
            </a:br>
            <a:r>
              <a:rPr lang="en-IN" sz="1600" dirty="0"/>
              <a:t>Designed to provide practical guidance relevant to the farmer's season, crop, location, and farming requirements.</a:t>
            </a:r>
          </a:p>
          <a:p>
            <a:r>
              <a:rPr lang="en-IN" sz="1600" b="1" dirty="0"/>
              <a:t>5. Multi-Domain Agricultural Guidance</a:t>
            </a:r>
          </a:p>
          <a:p>
            <a:r>
              <a:rPr lang="en-IN" sz="1600" dirty="0"/>
              <a:t>Brings multiple farming needs into one assistant, including:</a:t>
            </a:r>
          </a:p>
          <a:p>
            <a:pPr marL="285750" lvl="0" indent="-285750">
              <a:buFont typeface="Arial" panose="020B0604020202020204" pitchFamily="34" charset="0"/>
              <a:buChar char="•"/>
            </a:pPr>
            <a:r>
              <a:rPr lang="en-IN" sz="1600" dirty="0"/>
              <a:t>Crop and seasonal recommendations </a:t>
            </a:r>
          </a:p>
          <a:p>
            <a:pPr marL="285750" lvl="0" indent="-285750">
              <a:buFont typeface="Arial" panose="020B0604020202020204" pitchFamily="34" charset="0"/>
              <a:buChar char="•"/>
            </a:pPr>
            <a:r>
              <a:rPr lang="en-IN" sz="1600" dirty="0"/>
              <a:t>Weather-related guidance </a:t>
            </a:r>
          </a:p>
          <a:p>
            <a:pPr marL="285750" lvl="0" indent="-285750">
              <a:buFont typeface="Arial" panose="020B0604020202020204" pitchFamily="34" charset="0"/>
              <a:buChar char="•"/>
            </a:pPr>
            <a:r>
              <a:rPr lang="en-IN" sz="1600" dirty="0"/>
              <a:t>Soil and crop information </a:t>
            </a:r>
          </a:p>
          <a:p>
            <a:pPr marL="285750" lvl="0" indent="-285750">
              <a:buFont typeface="Arial" panose="020B0604020202020204" pitchFamily="34" charset="0"/>
              <a:buChar char="•"/>
            </a:pPr>
            <a:r>
              <a:rPr lang="en-IN" sz="1600" dirty="0"/>
              <a:t>Pest and disease management </a:t>
            </a:r>
          </a:p>
          <a:p>
            <a:pPr marL="285750" lvl="0" indent="-285750">
              <a:buFont typeface="Arial" panose="020B0604020202020204" pitchFamily="34" charset="0"/>
              <a:buChar char="•"/>
            </a:pPr>
            <a:r>
              <a:rPr lang="en-IN" sz="1600" dirty="0"/>
              <a:t>Market and mandi information </a:t>
            </a:r>
          </a:p>
          <a:p>
            <a:r>
              <a:rPr lang="en-IN" sz="1600" b="1" dirty="0"/>
              <a:t>6. Trusted Information Retrieval</a:t>
            </a:r>
            <a:br>
              <a:rPr lang="en-IN" sz="1600" dirty="0"/>
            </a:br>
            <a:r>
              <a:rPr lang="en-IN" sz="1600" dirty="0"/>
              <a:t>The RAG approach helps ground AI responses in retrieved agricultural knowledge instead of relying only on the model's internal knowledge.</a:t>
            </a:r>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600" b="0" i="0" u="none" strike="noStrike" cap="none" dirty="0">
                <a:solidFill>
                  <a:srgbClr val="2B3541"/>
                </a:solidFill>
                <a:latin typeface="Times New Roman"/>
                <a:ea typeface="Times New Roman"/>
                <a:cs typeface="Times New Roman"/>
                <a:sym typeface="Times New Roman"/>
              </a:rPr>
              <a:t>Please create public </a:t>
            </a:r>
            <a:r>
              <a:rPr lang="en-US" sz="1600" b="0" i="0" u="none" strike="noStrike" cap="none" dirty="0" err="1">
                <a:solidFill>
                  <a:srgbClr val="2B3541"/>
                </a:solidFill>
                <a:latin typeface="Times New Roman"/>
                <a:ea typeface="Times New Roman"/>
                <a:cs typeface="Times New Roman"/>
                <a:sym typeface="Times New Roman"/>
              </a:rPr>
              <a:t>github</a:t>
            </a:r>
            <a:r>
              <a:rPr lang="en-US" sz="160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600" dirty="0">
                <a:solidFill>
                  <a:srgbClr val="2B3541"/>
                </a:solidFill>
                <a:latin typeface="Times New Roman"/>
                <a:ea typeface="Times New Roman"/>
                <a:cs typeface="Times New Roman"/>
                <a:sym typeface="Times New Roman"/>
              </a:rPr>
              <a:t>Please test and Paste the working  </a:t>
            </a:r>
            <a:r>
              <a:rPr lang="en-US" sz="1600" dirty="0" err="1">
                <a:solidFill>
                  <a:srgbClr val="2B3541"/>
                </a:solidFill>
                <a:latin typeface="Times New Roman"/>
                <a:ea typeface="Times New Roman"/>
                <a:cs typeface="Times New Roman"/>
                <a:sym typeface="Times New Roman"/>
              </a:rPr>
              <a:t>Github</a:t>
            </a:r>
            <a:r>
              <a:rPr lang="en-US" sz="1600" dirty="0">
                <a:solidFill>
                  <a:srgbClr val="2B3541"/>
                </a:solidFill>
                <a:latin typeface="Times New Roman"/>
                <a:ea typeface="Times New Roman"/>
                <a:cs typeface="Times New Roman"/>
                <a:sym typeface="Times New Roman"/>
              </a:rPr>
              <a:t> URL –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https://github.com/akashdebbarma06/AI-Agent-for-Smart-Farming</a:t>
            </a:r>
          </a:p>
          <a:p>
            <a:pPr lvl="0">
              <a:lnSpc>
                <a:spcPct val="162162"/>
              </a:lnSpc>
              <a:buClr>
                <a:srgbClr val="2B3541"/>
              </a:buClr>
              <a:buSzPts val="1850"/>
            </a:pPr>
            <a:endParaRPr lang="en-US" sz="1850" b="1"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600" b="1" dirty="0"/>
              <a:t>Future Enhancements of </a:t>
            </a:r>
            <a:r>
              <a:rPr lang="en-IN" sz="1600" b="1" dirty="0" err="1"/>
              <a:t>KrishiMitra</a:t>
            </a:r>
            <a:r>
              <a:rPr lang="en-IN" sz="1600" b="1" dirty="0"/>
              <a:t> AI</a:t>
            </a:r>
          </a:p>
          <a:p>
            <a:r>
              <a:rPr lang="en-IN" sz="1600" b="1" dirty="0"/>
              <a:t>1. Real-Time Weather Integration</a:t>
            </a:r>
            <a:br>
              <a:rPr lang="en-IN" sz="1600" dirty="0"/>
            </a:br>
            <a:r>
              <a:rPr lang="en-IN" sz="1600" dirty="0"/>
              <a:t>Integrate live weather APIs to provide location-based forecasts, rainfall alerts, temperature updates, and weather-based farming recommendations.</a:t>
            </a:r>
          </a:p>
          <a:p>
            <a:r>
              <a:rPr lang="en-IN" sz="1600" b="1" dirty="0"/>
              <a:t>2. Live Mandi Price Integration</a:t>
            </a:r>
            <a:br>
              <a:rPr lang="en-IN" sz="1600" dirty="0"/>
            </a:br>
            <a:r>
              <a:rPr lang="en-IN" sz="1600" dirty="0"/>
              <a:t>Connect with agricultural market data sources to provide updated crop prices and help farmers make better selling decisions.</a:t>
            </a:r>
          </a:p>
          <a:p>
            <a:r>
              <a:rPr lang="en-IN" sz="1600" b="1" dirty="0"/>
              <a:t>3. Multilingual Voice Assistant</a:t>
            </a:r>
            <a:br>
              <a:rPr lang="en-IN" sz="1600" dirty="0"/>
            </a:br>
            <a:r>
              <a:rPr lang="en-IN" sz="1600" dirty="0"/>
              <a:t>Add regional language and voice support so farmers can interact with the system naturally without depending on English or text-based input.</a:t>
            </a:r>
          </a:p>
          <a:p>
            <a:r>
              <a:rPr lang="en-IN" sz="1600" b="1" dirty="0"/>
              <a:t>4. Soil and Crop Monitoring</a:t>
            </a:r>
            <a:br>
              <a:rPr lang="en-IN" sz="1600" dirty="0"/>
            </a:br>
            <a:r>
              <a:rPr lang="en-IN" sz="1600" dirty="0"/>
              <a:t>Integrate soil sensors and IoT devices to collect real-time information such as soil moisture, temperature, and nutrient conditions.</a:t>
            </a:r>
          </a:p>
          <a:p>
            <a:r>
              <a:rPr lang="en-IN" sz="1600" b="1" dirty="0"/>
              <a:t>5. Image-Based Crop Disease Detection</a:t>
            </a:r>
            <a:br>
              <a:rPr lang="en-IN" sz="1600" dirty="0"/>
            </a:br>
            <a:r>
              <a:rPr lang="en-IN" sz="1600" dirty="0"/>
              <a:t>Enable farmers to upload crop images and use AI-based computer vision to identify possible diseases, pests, and crop damage.</a:t>
            </a:r>
          </a:p>
          <a:p>
            <a:r>
              <a:rPr lang="en-IN" sz="1600" b="1" dirty="0"/>
              <a:t>6. Personalized Farm Recommendations</a:t>
            </a:r>
            <a:br>
              <a:rPr lang="en-IN" sz="1600" dirty="0"/>
            </a:br>
            <a:r>
              <a:rPr lang="en-IN" sz="1600" dirty="0"/>
              <a:t>Improve personalization using information such as location, crop type, soil condition, season, and previous farming activities.</a:t>
            </a:r>
          </a:p>
          <a:p>
            <a:r>
              <a:rPr lang="en-IN" sz="1600" b="1" dirty="0"/>
              <a:t>7. Mobile Application</a:t>
            </a:r>
            <a:br>
              <a:rPr lang="en-IN" sz="1600" dirty="0"/>
            </a:br>
            <a:r>
              <a:rPr lang="en-IN" sz="1600" dirty="0"/>
              <a:t>Develop an Android/mobile application to make </a:t>
            </a:r>
            <a:r>
              <a:rPr lang="en-IN" sz="1600" dirty="0" err="1"/>
              <a:t>KrishiMitra</a:t>
            </a:r>
            <a:r>
              <a:rPr lang="en-IN" sz="1600" dirty="0"/>
              <a:t> AI accessible to farmers in rural and low-connectivity areas.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5" name="Picture 4">
            <a:extLst>
              <a:ext uri="{FF2B5EF4-FFF2-40B4-BE49-F238E27FC236}">
                <a16:creationId xmlns:a16="http://schemas.microsoft.com/office/drawing/2014/main" id="{8E524011-A6F4-5627-D932-D31D9CCBFE13}"/>
              </a:ext>
            </a:extLst>
          </p:cNvPr>
          <p:cNvPicPr>
            <a:picLocks noChangeAspect="1"/>
          </p:cNvPicPr>
          <p:nvPr/>
        </p:nvPicPr>
        <p:blipFill>
          <a:blip r:embed="rId2"/>
          <a:stretch>
            <a:fillRect/>
          </a:stretch>
        </p:blipFill>
        <p:spPr>
          <a:xfrm>
            <a:off x="2462570" y="1367169"/>
            <a:ext cx="6637595" cy="500677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058AD32B-5847-8A27-9993-B2C6F8C50641}"/>
              </a:ext>
            </a:extLst>
          </p:cNvPr>
          <p:cNvPicPr>
            <a:picLocks noChangeAspect="1"/>
          </p:cNvPicPr>
          <p:nvPr/>
        </p:nvPicPr>
        <p:blipFill>
          <a:blip r:embed="rId2"/>
          <a:stretch>
            <a:fillRect/>
          </a:stretch>
        </p:blipFill>
        <p:spPr>
          <a:xfrm>
            <a:off x="2176529" y="1393138"/>
            <a:ext cx="7681626" cy="497629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TotalTime>
  <Words>1312</Words>
  <Application>Microsoft Office PowerPoint</Application>
  <PresentationFormat>Widescreen</PresentationFormat>
  <Paragraphs>122</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Akash Debbarma</cp:lastModifiedBy>
  <cp:revision>5</cp:revision>
  <dcterms:created xsi:type="dcterms:W3CDTF">2025-07-08T05:06:56Z</dcterms:created>
  <dcterms:modified xsi:type="dcterms:W3CDTF">2026-09-10T15:16:17Z</dcterms:modified>
</cp:coreProperties>
</file>