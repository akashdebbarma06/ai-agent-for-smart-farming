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4E0AEA-C144-4C2C-A1F4-3AFC628B23D7}" v="5" dt="2026-09-06T18:35:11.131"/>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1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kash Debbarma" userId="faf887624ed850e5" providerId="LiveId" clId="{725FC6BD-FD85-4695-9C43-961C43D79172}"/>
    <pc:docChg chg="custSel modSld">
      <pc:chgData name="Akash Debbarma" userId="faf887624ed850e5" providerId="LiveId" clId="{725FC6BD-FD85-4695-9C43-961C43D79172}" dt="2026-09-09T14:18:45.271" v="4" actId="1076"/>
      <pc:docMkLst>
        <pc:docMk/>
      </pc:docMkLst>
      <pc:sldChg chg="delSp modSp mod">
        <pc:chgData name="Akash Debbarma" userId="faf887624ed850e5" providerId="LiveId" clId="{725FC6BD-FD85-4695-9C43-961C43D79172}" dt="2026-09-09T14:18:45.271" v="4" actId="1076"/>
        <pc:sldMkLst>
          <pc:docMk/>
          <pc:sldMk cId="893417001" sldId="300"/>
        </pc:sldMkLst>
        <pc:picChg chg="mod">
          <ac:chgData name="Akash Debbarma" userId="faf887624ed850e5" providerId="LiveId" clId="{725FC6BD-FD85-4695-9C43-961C43D79172}" dt="2026-09-09T14:18:45.271" v="4" actId="1076"/>
          <ac:picMkLst>
            <pc:docMk/>
            <pc:sldMk cId="893417001" sldId="300"/>
            <ac:picMk id="12" creationId="{3E29AF1D-88C4-87E5-74DF-4E97121E06CE}"/>
          </ac:picMkLst>
        </pc:picChg>
        <pc:picChg chg="del">
          <ac:chgData name="Akash Debbarma" userId="faf887624ed850e5" providerId="LiveId" clId="{725FC6BD-FD85-4695-9C43-961C43D79172}" dt="2026-09-09T14:10:13.576" v="2" actId="478"/>
          <ac:picMkLst>
            <pc:docMk/>
            <pc:sldMk cId="893417001" sldId="300"/>
            <ac:picMk id="13" creationId="{C81444F5-0692-DD67-1759-70821E53B02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rotWithShape="1">
          <a:blip r:embed="rId3">
            <a:alphaModFix/>
          </a:blip>
          <a:srcRect/>
          <a:stretch/>
        </p:blipFill>
        <p:spPr>
          <a:xfrm>
            <a:off x="4053024" y="3738417"/>
            <a:ext cx="762500" cy="801811"/>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 </a:t>
            </a:r>
            <a:r>
              <a:rPr lang="en-US" sz="2400" b="1">
                <a:highlight>
                  <a:srgbClr val="FFFF00"/>
                </a:highlight>
              </a:rPr>
              <a:t>[ like Agriculture / Education / Healthcare / … ]</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Tile – </a:t>
            </a:r>
            <a:r>
              <a:rPr lang="en-US" sz="2400" b="1">
                <a:highlight>
                  <a:srgbClr val="FFFF00"/>
                </a:highlight>
              </a:rPr>
              <a:t>[</a:t>
            </a:r>
            <a:r>
              <a:rPr lang="en-US" sz="2400" b="1">
                <a:solidFill>
                  <a:srgbClr val="002060"/>
                </a:solidFill>
                <a:highlight>
                  <a:srgbClr val="FFFF00"/>
                </a:highlight>
                <a:latin typeface="Times New Roman"/>
                <a:ea typeface="Times New Roman"/>
                <a:cs typeface="Times New Roman"/>
                <a:sym typeface="Times New Roman"/>
              </a:rPr>
              <a:t>Write your project title here</a:t>
            </a:r>
            <a:r>
              <a:rPr lang="en-US" sz="2400" b="1">
                <a:highlight>
                  <a:srgbClr val="FFFF00"/>
                </a:highlight>
              </a:rPr>
              <a:t>]</a:t>
            </a:r>
            <a:endParaRPr lang="en-IN" sz="2400" b="1">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165753"/>
            <a:ext cx="10607040" cy="2246769"/>
          </a:xfrm>
          <a:prstGeom prst="rect">
            <a:avLst/>
          </a:prstGeom>
          <a:noFill/>
        </p:spPr>
        <p:txBody>
          <a:bodyPr wrap="square" rtlCol="0">
            <a:spAutoFit/>
          </a:bodyPr>
          <a:lstStyle/>
          <a:p>
            <a:pPr fontAlgn="base"/>
            <a:r>
              <a:rPr lang="en-US" b="1" dirty="0"/>
              <a:t>Problem Statement :</a:t>
            </a:r>
            <a:r>
              <a:rPr lang="en-IN" dirty="0"/>
              <a:t>AI Agent for Smart Farming Advice </a:t>
            </a:r>
            <a:endParaRPr lang="en-US" dirty="0"/>
          </a:p>
          <a:p>
            <a:pPr fontAlgn="base"/>
            <a:endParaRPr lang="en-US" b="1" dirty="0"/>
          </a:p>
          <a:p>
            <a:pPr fontAlgn="base"/>
            <a:r>
              <a:rPr lang="en-US" b="1"/>
              <a:t>The Challenge: </a:t>
            </a:r>
            <a:r>
              <a:rPr lang="en-IN"/>
              <a:t>An </a:t>
            </a:r>
            <a:r>
              <a:rPr lang="en-IN" dirty="0"/>
              <a:t>AI Agent for Smart Farming Advice, powered by RAG (Retrieval-Augmented Generation), supports small-scale farmers by delivering real-time, localized agricultural guidance. It retrieves trusted data on weather forecasts, soil conditions, crop recommendations, pest control measures, and current market prices from agricultural departments, meteorological sources, and </a:t>
            </a:r>
            <a:r>
              <a:rPr lang="en-IN" dirty="0" err="1"/>
              <a:t>agritech</a:t>
            </a:r>
            <a:r>
              <a:rPr lang="en-IN" dirty="0"/>
              <a:t> platforms. Farmers can interact in their local language and ask questions like “What crop is best for this season?” or “What is today’s mandi rate for tomatoes?” The agent ensures timely, data-driven decisions that reduce risk, increase yield, and boost income. This AI-driven assistant bridges the knowledge gap and brings smart farming to the grassroots</a:t>
            </a:r>
            <a:r>
              <a:rPr lang="en-US" dirty="0"/>
              <a:t>. </a:t>
            </a:r>
          </a:p>
          <a:p>
            <a:pPr fontAlgn="base"/>
            <a:endParaRPr lang="en-US" dirty="0"/>
          </a:p>
          <a:p>
            <a:pPr fontAlgn="base"/>
            <a:r>
              <a:rPr lang="en-IN" b="1" dirty="0"/>
              <a:t>Technology</a:t>
            </a:r>
            <a:r>
              <a:rPr lang="en-IN" dirty="0"/>
              <a:t> – Use of IBM Cloud Lite services / IBM Granite is mandatory. </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a:p>
          <a:p>
            <a:r>
              <a:rPr lang="en-US" b="1"/>
              <a:t>Proposed Solution: AI-Powered Nutrition Agent</a:t>
            </a:r>
          </a:p>
          <a:p>
            <a:r>
              <a:rPr lang="en-US"/>
              <a:t>The proposed solution is a </a:t>
            </a:r>
            <a:r>
              <a:rPr lang="en-US" b="1"/>
              <a:t>multi-agent AI-powered Nutrition Agent</a:t>
            </a:r>
            <a:r>
              <a:rPr lang="en-US"/>
              <a:t> built using </a:t>
            </a:r>
            <a:r>
              <a:rPr lang="en-US" b="1"/>
              <a:t>IBM Bob, IBM watsonx.ai, and Granite Models</a:t>
            </a:r>
            <a:r>
              <a:rPr lang="en-US"/>
              <a:t> to provide personalized, real-time dietary guidance. The system addresses challenges in diet planning, nutrition tracking, and preventive healthcare through an intelligent, modular architecture.</a:t>
            </a:r>
          </a:p>
          <a:p>
            <a:r>
              <a:rPr lang="en-US"/>
              <a:t>At its core, the solution uses a </a:t>
            </a:r>
            <a:r>
              <a:rPr lang="en-US" b="1"/>
              <a:t>Retrieval-Augmented Generation (RAG)</a:t>
            </a:r>
            <a:r>
              <a:rPr lang="en-US"/>
              <a:t> pipeline to fetch accurate nutritional data from trusted sources such as USDA and WHO datasets. This data is embedded and stored in a vector database, enabling the system to retrieve and summarize food nutrition details (calories, macros, vitamins) using Granite models.</a:t>
            </a:r>
          </a:p>
          <a:p>
            <a:r>
              <a:rPr lang="en-US"/>
              <a:t>The system consists of four key agents:</a:t>
            </a:r>
          </a:p>
          <a:p>
            <a:r>
              <a:rPr lang="en-US" b="1"/>
              <a:t>Nutrition Knowledge Agent</a:t>
            </a:r>
            <a:r>
              <a:rPr lang="en-US"/>
              <a:t> retrieves and summarizes nutritional information using RAG. </a:t>
            </a:r>
          </a:p>
          <a:p>
            <a:r>
              <a:rPr lang="en-US" b="1"/>
              <a:t>Diet Recommendation Agent</a:t>
            </a:r>
            <a:r>
              <a:rPr lang="en-US"/>
              <a:t> generates personalized meal plans based on user inputs such as age, health conditions, dietary preferences, and fitness goals. </a:t>
            </a:r>
          </a:p>
          <a:p>
            <a:r>
              <a:rPr lang="en-US" b="1"/>
              <a:t>Health Advisory Agent</a:t>
            </a:r>
            <a:r>
              <a:rPr lang="en-US"/>
              <a:t> provides preventive health suggestions, including disease-specific diets (e.g., diabetes-friendly or heart-healthy plans). </a:t>
            </a:r>
          </a:p>
          <a:p>
            <a:r>
              <a:rPr lang="en-US" b="1"/>
              <a:t>Food Log &amp; Feedback Agent</a:t>
            </a:r>
            <a:r>
              <a:rPr lang="en-US"/>
              <a:t> allows users to log meals via text, voice, or images and delivers instant nutritional analysis with actionable feedback. </a:t>
            </a:r>
          </a:p>
          <a:p>
            <a:r>
              <a:rPr lang="en-US"/>
              <a:t>The solution includes a </a:t>
            </a:r>
            <a:r>
              <a:rPr lang="en-US" b="1"/>
              <a:t>user-friendly dashboard</a:t>
            </a:r>
            <a:r>
              <a:rPr lang="en-US"/>
              <a:t> (built with </a:t>
            </a:r>
            <a:r>
              <a:rPr lang="en-US" err="1"/>
              <a:t>Streamlit</a:t>
            </a:r>
            <a:r>
              <a:rPr lang="en-US"/>
              <a:t> or React) that visualizes daily and weekly nutrient intake, highlights deficiencies, and tracks progress toward health goals.</a:t>
            </a:r>
          </a:p>
          <a:p>
            <a:r>
              <a:rPr lang="en-US"/>
              <a:t>IBM Bob is used to orchestrate agent workflows, while watsonx.ai ensures scalable model deployment, embeddings, and AI governance. Granite models power reasoning, summarization, and personalization.</a:t>
            </a:r>
          </a:p>
          <a:p>
            <a:r>
              <a:rPr lang="en-US"/>
              <a:t>Overall, this solution delivers an </a:t>
            </a:r>
            <a:r>
              <a:rPr lang="en-US" b="1"/>
              <a:t>end-to-end intelligent nutrition assistant</a:t>
            </a:r>
            <a:r>
              <a:rPr lang="en-US"/>
              <a:t> that promotes healthier lifestyles through personalized insights, real-time feedback, and preventive healthcare recommendations.</a:t>
            </a:r>
          </a:p>
          <a:p>
            <a:pPr fontAlgn="base"/>
            <a:endParaRPr lang="en-US"/>
          </a:p>
          <a:p>
            <a:endParaRPr lang="en-IN"/>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a:t>IBM Bob platform </a:t>
            </a:r>
            <a:r>
              <a:rPr lang="en-US" sz="1800"/>
              <a:t>-For designing and orchestrating multi-agent workflows visually</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a:t>
            </a:r>
            <a:r>
              <a:rPr lang="en-US" sz="1800" b="1" err="1"/>
              <a:t>Grainte</a:t>
            </a:r>
            <a:r>
              <a:rPr lang="en-US" sz="1800" b="1"/>
              <a:t> model </a:t>
            </a:r>
            <a:r>
              <a:rPr lang="en-US" sz="1800"/>
              <a:t>-  for </a:t>
            </a:r>
            <a:r>
              <a:rPr lang="en-US" sz="1800" err="1"/>
              <a:t>eg</a:t>
            </a:r>
            <a:r>
              <a:rPr lang="en-US" sz="1800"/>
              <a:t> – ibm-granite-3-2-8b – For natural language understanding, reasoning, and personalization</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a:t>
            </a:r>
            <a:r>
              <a:rPr lang="en-US" sz="1800"/>
              <a:t>– It provides the infrastructure to build, deploy, and scale the Nutrition Agent efficiently. IBM Cloud enables a </a:t>
            </a:r>
            <a:r>
              <a:rPr lang="en-US" sz="1800" b="1"/>
              <a:t>reliable, secure, and scalable environment</a:t>
            </a:r>
            <a:r>
              <a:rPr lang="en-US" sz="1800"/>
              <a:t> for deploying the Nutrition Agent.</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a:t>
            </a:r>
            <a:r>
              <a:rPr lang="en-US" sz="1800"/>
              <a:t>RAG to </a:t>
            </a:r>
            <a:r>
              <a:rPr lang="en-US" sz="1800" b="1"/>
              <a:t>fetch real data first, then generate intelligent answers</a:t>
            </a:r>
            <a:r>
              <a:rPr lang="en-US" sz="1800"/>
              <a:t>, making the Nutrition Agent more trustworthy and effective.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Watsonx.ai - </a:t>
            </a:r>
            <a:r>
              <a:rPr lang="en-US" sz="1800"/>
              <a:t>For model deployment, embeddings, and AI governance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IN" sz="1800" b="1"/>
              <a:t>Vector Database </a:t>
            </a:r>
            <a:r>
              <a:rPr lang="en-IN" sz="1800"/>
              <a:t>(FAISS/Chroma) – For RAG-based nutritional data retrieval</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739759"/>
          </a:xfrm>
          <a:prstGeom prst="rect">
            <a:avLst/>
          </a:prstGeom>
          <a:noFill/>
        </p:spPr>
        <p:txBody>
          <a:bodyPr wrap="square" rtlCol="0">
            <a:spAutoFit/>
          </a:bodyPr>
          <a:lstStyle/>
          <a:p>
            <a:pPr marL="342900" indent="-342900">
              <a:buFont typeface="+mj-lt"/>
              <a:buAutoNum type="arabicPeriod"/>
            </a:pPr>
            <a:endParaRPr lang="en-US"/>
          </a:p>
          <a:p>
            <a:pPr marL="342900" indent="-342900">
              <a:buFont typeface="+mj-lt"/>
              <a:buAutoNum type="arabicPeriod"/>
            </a:pPr>
            <a:r>
              <a:rPr lang="en-US" sz="1800"/>
              <a:t>App.py</a:t>
            </a:r>
          </a:p>
          <a:p>
            <a:pPr marL="342900" indent="-342900">
              <a:buFont typeface="+mj-lt"/>
              <a:buAutoNum type="arabicPeriod"/>
            </a:pPr>
            <a:endParaRPr lang="en-US" sz="1800"/>
          </a:p>
          <a:p>
            <a:pPr marL="342900" indent="-342900">
              <a:buFont typeface="+mj-lt"/>
              <a:buAutoNum type="arabicPeriod"/>
            </a:pPr>
            <a:r>
              <a:rPr lang="en-US" sz="1800"/>
              <a:t>Requirements.txt</a:t>
            </a:r>
          </a:p>
          <a:p>
            <a:pPr marL="342900" indent="-342900">
              <a:buFont typeface="+mj-lt"/>
              <a:buAutoNum type="arabicPeriod"/>
            </a:pPr>
            <a:endParaRPr lang="en-US" sz="1800"/>
          </a:p>
          <a:p>
            <a:pPr marL="342900" indent="-342900">
              <a:buFont typeface="+mj-lt"/>
              <a:buAutoNum type="arabicPeriod"/>
            </a:pPr>
            <a:r>
              <a:rPr lang="en-US" sz="1800"/>
              <a:t>Style.css </a:t>
            </a:r>
          </a:p>
          <a:p>
            <a:pPr marL="342900" indent="-342900">
              <a:buFont typeface="+mj-lt"/>
              <a:buAutoNum type="arabicPeriod"/>
            </a:pPr>
            <a:endParaRPr lang="en-US" sz="1800"/>
          </a:p>
          <a:p>
            <a:pPr marL="342900" indent="-342900">
              <a:buFont typeface="+mj-lt"/>
              <a:buAutoNum type="arabicPeriod"/>
            </a:pPr>
            <a:r>
              <a:rPr lang="en-US" sz="1800"/>
              <a:t>.env</a:t>
            </a:r>
          </a:p>
          <a:p>
            <a:pPr marL="342900" indent="-342900">
              <a:buFont typeface="+mj-lt"/>
              <a:buAutoNum type="arabicPeriod"/>
            </a:pPr>
            <a:endParaRPr lang="en-US" sz="1800"/>
          </a:p>
          <a:p>
            <a:pPr marL="342900" indent="-342900">
              <a:buFont typeface="+mj-lt"/>
              <a:buAutoNum type="arabicPeriod"/>
            </a:pPr>
            <a:r>
              <a:rPr lang="en-US" sz="1800"/>
              <a:t>Index.html</a:t>
            </a:r>
          </a:p>
          <a:p>
            <a:endParaRPr lang="en-US"/>
          </a:p>
          <a:p>
            <a:endParaRPr lang="en-US"/>
          </a:p>
          <a:p>
            <a:endParaRPr lang="en-US"/>
          </a:p>
          <a:p>
            <a:endParaRPr lang="en-US"/>
          </a:p>
          <a:p>
            <a:endParaRPr lang="en-US"/>
          </a:p>
          <a:p>
            <a:endParaRPr lang="en-US"/>
          </a:p>
          <a:p>
            <a:endParaRPr lang="en-US"/>
          </a:p>
          <a:p>
            <a:endParaRPr lang="en-US"/>
          </a:p>
          <a:p>
            <a:r>
              <a:rPr lang="en-US"/>
              <a:t> </a:t>
            </a:r>
            <a:endParaRPr lang="en-IN"/>
          </a:p>
        </p:txBody>
      </p:sp>
      <p:pic>
        <p:nvPicPr>
          <p:cNvPr id="5" name="Picture 4">
            <a:extLst>
              <a:ext uri="{FF2B5EF4-FFF2-40B4-BE49-F238E27FC236}">
                <a16:creationId xmlns:a16="http://schemas.microsoft.com/office/drawing/2014/main" id="{61F38907-89DE-28F7-316F-44E7DAB9309E}"/>
              </a:ext>
            </a:extLst>
          </p:cNvPr>
          <p:cNvPicPr>
            <a:picLocks noChangeAspect="1"/>
          </p:cNvPicPr>
          <p:nvPr/>
        </p:nvPicPr>
        <p:blipFill>
          <a:blip r:embed="rId3"/>
          <a:stretch>
            <a:fillRect/>
          </a:stretch>
        </p:blipFill>
        <p:spPr>
          <a:xfrm>
            <a:off x="4014215" y="1860506"/>
            <a:ext cx="7868367" cy="4512862"/>
          </a:xfrm>
          <a:prstGeom prst="rect">
            <a:avLst/>
          </a:prstGeom>
        </p:spPr>
      </p:pic>
      <p:sp>
        <p:nvSpPr>
          <p:cNvPr id="9" name="Rectangle 8">
            <a:extLst>
              <a:ext uri="{FF2B5EF4-FFF2-40B4-BE49-F238E27FC236}">
                <a16:creationId xmlns:a16="http://schemas.microsoft.com/office/drawing/2014/main" id="{6FFF7BC6-93D0-8D42-34B7-C226B1B96C2D}"/>
              </a:ext>
            </a:extLst>
          </p:cNvPr>
          <p:cNvSpPr/>
          <p:nvPr/>
        </p:nvSpPr>
        <p:spPr>
          <a:xfrm>
            <a:off x="4250700" y="2029968"/>
            <a:ext cx="5908284" cy="317232"/>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10" name="Arrow: Right 9">
            <a:extLst>
              <a:ext uri="{FF2B5EF4-FFF2-40B4-BE49-F238E27FC236}">
                <a16:creationId xmlns:a16="http://schemas.microsoft.com/office/drawing/2014/main" id="{A6C81E80-ED7B-4240-A8EE-0221D9ACD900}"/>
              </a:ext>
            </a:extLst>
          </p:cNvPr>
          <p:cNvSpPr/>
          <p:nvPr/>
        </p:nvSpPr>
        <p:spPr>
          <a:xfrm rot="8280234">
            <a:off x="7719727" y="1520573"/>
            <a:ext cx="923544" cy="3383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5" name="Picture 4">
            <a:extLst>
              <a:ext uri="{FF2B5EF4-FFF2-40B4-BE49-F238E27FC236}">
                <a16:creationId xmlns:a16="http://schemas.microsoft.com/office/drawing/2014/main" id="{5DC7512A-0AA7-CC22-D1D2-C738BF12660E}"/>
              </a:ext>
            </a:extLst>
          </p:cNvPr>
          <p:cNvPicPr>
            <a:picLocks noChangeAspect="1"/>
          </p:cNvPicPr>
          <p:nvPr/>
        </p:nvPicPr>
        <p:blipFill>
          <a:blip r:embed="rId3"/>
          <a:stretch>
            <a:fillRect/>
          </a:stretch>
        </p:blipFill>
        <p:spPr>
          <a:xfrm>
            <a:off x="1371600" y="964760"/>
            <a:ext cx="9217740" cy="5728648"/>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tretch>
            <a:fillRect/>
          </a:stretch>
        </p:blipFill>
        <p:spPr>
          <a:xfrm>
            <a:off x="157335" y="400546"/>
            <a:ext cx="11145396" cy="5716790"/>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3" name="Picture 2">
            <a:extLst>
              <a:ext uri="{FF2B5EF4-FFF2-40B4-BE49-F238E27FC236}">
                <a16:creationId xmlns:a16="http://schemas.microsoft.com/office/drawing/2014/main" id="{81932CE2-F219-0CA8-0102-55B8C682B8A2}"/>
              </a:ext>
            </a:extLst>
          </p:cNvPr>
          <p:cNvPicPr>
            <a:picLocks noChangeAspect="1"/>
          </p:cNvPicPr>
          <p:nvPr/>
        </p:nvPicPr>
        <p:blipFill>
          <a:blip r:embed="rId3"/>
          <a:stretch>
            <a:fillRect/>
          </a:stretch>
        </p:blipFill>
        <p:spPr>
          <a:xfrm>
            <a:off x="535570" y="675732"/>
            <a:ext cx="11468100" cy="6181725"/>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rPr lang="en-US" b="1"/>
              <a:t>Role of Agentic AI in Nutrition Agent</a:t>
            </a:r>
          </a:p>
          <a:p>
            <a:r>
              <a:rPr lang="en-US" b="1"/>
              <a:t>Agentic AI</a:t>
            </a:r>
            <a:r>
              <a:rPr lang="en-US"/>
              <a:t> enables the Nutrition Agent to function as an intelligent, autonomous system rather than a simple chatbot. Using </a:t>
            </a:r>
            <a:r>
              <a:rPr lang="en-US" b="1"/>
              <a:t>IBM watsonx.ai</a:t>
            </a:r>
            <a:r>
              <a:rPr lang="en-US"/>
              <a:t> and </a:t>
            </a:r>
            <a:r>
              <a:rPr lang="en-US" b="1"/>
              <a:t>IBM Granite models</a:t>
            </a:r>
            <a:r>
              <a:rPr lang="en-US"/>
              <a:t>, it coordinates multiple specialized agents to deliver personalized nutrition guidance.</a:t>
            </a:r>
          </a:p>
          <a:p>
            <a:r>
              <a:rPr lang="en-US"/>
              <a:t>Each agent performs a specific role—such as retrieving nutritional data, generating diet plans, providing health advice, and analyzing food logs—while working collaboratively. This </a:t>
            </a:r>
            <a:r>
              <a:rPr lang="en-US" b="1"/>
              <a:t>multi-agent approach</a:t>
            </a:r>
            <a:r>
              <a:rPr lang="en-US"/>
              <a:t> ensures efficient task execution and accurate results.</a:t>
            </a:r>
          </a:p>
          <a:p>
            <a:r>
              <a:rPr lang="en-US"/>
              <a:t>Agentic AI also brings </a:t>
            </a:r>
            <a:r>
              <a:rPr lang="en-US" b="1"/>
              <a:t>context awareness</a:t>
            </a:r>
            <a:r>
              <a:rPr lang="en-US"/>
              <a:t>, understanding user details like age, health conditions, and fitness goals to generate tailored recommendations. It supports </a:t>
            </a:r>
            <a:r>
              <a:rPr lang="en-US" b="1"/>
              <a:t>real-time adaptation</a:t>
            </a:r>
            <a:r>
              <a:rPr lang="en-US"/>
              <a:t>, continuously updating suggestions based on user inputs like daily meals.</a:t>
            </a:r>
          </a:p>
          <a:p>
            <a:r>
              <a:rPr lang="en-US"/>
              <a:t>Additionally, agents communicate with each other, enabling better decision-making and improved outcomes.</a:t>
            </a:r>
          </a:p>
          <a:p>
            <a:r>
              <a:rPr lang="en-US"/>
              <a:t>Overall, Agentic AI makes the system proactive, personalized, and goal-driven, acting like a </a:t>
            </a:r>
            <a:r>
              <a:rPr lang="en-US" b="1"/>
              <a:t>smart digital nutritionist</a:t>
            </a:r>
            <a:r>
              <a:rPr lang="en-US"/>
              <a:t> that helps users maintain a healthy lifestyle.</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291567" y="2027252"/>
            <a:ext cx="9953992" cy="5245066"/>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E430EE8C-8F89-5938-483F-00452050511A}"/>
              </a:ext>
            </a:extLst>
          </p:cNvPr>
          <p:cNvPicPr>
            <a:picLocks noChangeAspect="1"/>
          </p:cNvPicPr>
          <p:nvPr/>
        </p:nvPicPr>
        <p:blipFill>
          <a:blip r:embed="rId3"/>
          <a:stretch>
            <a:fillRect/>
          </a:stretch>
        </p:blipFill>
        <p:spPr>
          <a:xfrm>
            <a:off x="409144" y="774798"/>
            <a:ext cx="11163874" cy="5715294"/>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146B9DE6-C4BB-B81B-528A-B8789445C3FE}"/>
              </a:ext>
            </a:extLst>
          </p:cNvPr>
          <p:cNvPicPr>
            <a:picLocks noChangeAspect="1"/>
          </p:cNvPicPr>
          <p:nvPr/>
        </p:nvPicPr>
        <p:blipFill>
          <a:blip r:embed="rId3"/>
          <a:stretch>
            <a:fillRect/>
          </a:stretch>
        </p:blipFill>
        <p:spPr>
          <a:xfrm>
            <a:off x="561749" y="1004536"/>
            <a:ext cx="10493347" cy="5288404"/>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BA6C1B5E-405A-0E58-2397-353A88D82B9B}"/>
              </a:ext>
            </a:extLst>
          </p:cNvPr>
          <p:cNvPicPr>
            <a:picLocks noChangeAspect="1"/>
          </p:cNvPicPr>
          <p:nvPr/>
        </p:nvPicPr>
        <p:blipFill>
          <a:blip r:embed="rId3"/>
          <a:stretch>
            <a:fillRect/>
          </a:stretch>
        </p:blipFill>
        <p:spPr>
          <a:xfrm>
            <a:off x="804493" y="800029"/>
            <a:ext cx="10583014" cy="5945011"/>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a:t>The proposed Nutrition Agent stands out by combining </a:t>
            </a:r>
            <a:r>
              <a:rPr lang="en-IN" sz="1800" b="1"/>
              <a:t>Agentic AI, RAG, and personalization</a:t>
            </a:r>
            <a:r>
              <a:rPr lang="en-IN" sz="1800"/>
              <a:t> into a single intelligent system.</a:t>
            </a:r>
          </a:p>
          <a:p>
            <a:endParaRPr lang="en-IN" sz="1800"/>
          </a:p>
          <a:p>
            <a:r>
              <a:rPr lang="en-IN" sz="1800" b="1"/>
              <a:t>Multi-Agent Intelligence</a:t>
            </a:r>
            <a:r>
              <a:rPr lang="en-IN" sz="1800"/>
              <a:t> – Instead of a single chatbot, multiple specialized agents collaborate to deliver accurate and context-aware nutrition guidance. </a:t>
            </a:r>
          </a:p>
          <a:p>
            <a:r>
              <a:rPr lang="en-IN" sz="1800" b="1"/>
              <a:t>RAG-Based Accuracy</a:t>
            </a:r>
            <a:r>
              <a:rPr lang="en-IN" sz="1800"/>
              <a:t> – Integrates real-time data retrieval with AI generation, reducing misinformation and ensuring trustworthy recommendations. </a:t>
            </a:r>
          </a:p>
          <a:p>
            <a:r>
              <a:rPr lang="en-IN" sz="1800" b="1"/>
              <a:t>Hyper-Personalization</a:t>
            </a:r>
            <a:r>
              <a:rPr lang="en-IN" sz="1800"/>
              <a:t> – Tailors diet plans based on health conditions, cultural preferences, and fitness goals. </a:t>
            </a:r>
          </a:p>
          <a:p>
            <a:r>
              <a:rPr lang="en-IN" sz="1800" b="1"/>
              <a:t>Real-Time Feedback Loop</a:t>
            </a:r>
            <a:r>
              <a:rPr lang="en-IN" sz="1800"/>
              <a:t> – Continuously adapts recommendations based on daily food logs and user </a:t>
            </a:r>
            <a:r>
              <a:rPr lang="en-IN" sz="1800" err="1"/>
              <a:t>behavior</a:t>
            </a:r>
            <a:r>
              <a:rPr lang="en-IN" sz="1800"/>
              <a:t>. </a:t>
            </a:r>
          </a:p>
          <a:p>
            <a:r>
              <a:rPr lang="en-IN" sz="1800" b="1"/>
              <a:t>Multi-Modal Input</a:t>
            </a:r>
            <a:r>
              <a:rPr lang="en-IN" sz="1800"/>
              <a:t> – Supports text, voice, and image-based meal tracking for better usability. </a:t>
            </a:r>
          </a:p>
          <a:p>
            <a:r>
              <a:rPr lang="en-IN" sz="1800" b="1"/>
              <a:t>Preventive Healthcare Focus</a:t>
            </a:r>
            <a:r>
              <a:rPr lang="en-IN" sz="1800"/>
              <a:t> – Goes beyond diet planning to provide disease-specific nutrition advice. </a:t>
            </a:r>
          </a:p>
          <a:p>
            <a:r>
              <a:rPr lang="en-IN" sz="1800" b="1"/>
              <a:t>Scalable &amp; Enterprise-Ready</a:t>
            </a:r>
            <a:r>
              <a:rPr lang="en-IN" sz="1800"/>
              <a:t> – Built on </a:t>
            </a:r>
            <a:r>
              <a:rPr lang="en-IN" sz="1800" b="1"/>
              <a:t>IBM watsonx.ai</a:t>
            </a:r>
            <a:r>
              <a:rPr lang="en-IN" sz="1800"/>
              <a:t> with </a:t>
            </a:r>
            <a:r>
              <a:rPr lang="en-IN" sz="1800" b="1"/>
              <a:t>IBM Granite models</a:t>
            </a:r>
            <a:r>
              <a:rPr lang="en-IN" sz="1800"/>
              <a:t>, ensuring reliability and governance. </a:t>
            </a:r>
          </a:p>
          <a:p>
            <a:endParaRPr lang="en-IN" sz="1800"/>
          </a:p>
          <a:p>
            <a:r>
              <a:rPr lang="en-IN" sz="1800"/>
              <a:t>This makes the solution a </a:t>
            </a:r>
            <a:r>
              <a:rPr lang="en-IN" sz="1800" b="1"/>
              <a:t>smart, adaptive, and proactive digital nutritionist</a:t>
            </a:r>
            <a:r>
              <a:rPr lang="en-IN" sz="1800"/>
              <a:t>, not just a static diet recommendation tool.</a:t>
            </a:r>
            <a:endParaRPr lang="en-US"/>
          </a:p>
          <a:p>
            <a:endParaRPr lang="en-IN"/>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 Please create public </a:t>
            </a:r>
            <a:r>
              <a:rPr lang="en-US" sz="1850" b="0" i="0" u="none" strike="noStrike" cap="none" err="1">
                <a:solidFill>
                  <a:srgbClr val="2B3541"/>
                </a:solidFill>
                <a:latin typeface="Times New Roman"/>
                <a:ea typeface="Times New Roman"/>
                <a:cs typeface="Times New Roman"/>
                <a:sym typeface="Times New Roman"/>
              </a:rPr>
              <a:t>github</a:t>
            </a:r>
            <a:r>
              <a:rPr lang="en-US" sz="1850" b="0" i="0" u="none" strike="noStrike" cap="none">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a:solidFill>
                  <a:srgbClr val="2B3541"/>
                </a:solidFill>
                <a:latin typeface="Times New Roman"/>
                <a:ea typeface="Times New Roman"/>
                <a:cs typeface="Times New Roman"/>
                <a:sym typeface="Times New Roman"/>
              </a:rPr>
              <a:t>Please test and Paste the working  </a:t>
            </a:r>
            <a:r>
              <a:rPr lang="en-US" sz="1850" err="1">
                <a:solidFill>
                  <a:srgbClr val="2B3541"/>
                </a:solidFill>
                <a:latin typeface="Times New Roman"/>
                <a:ea typeface="Times New Roman"/>
                <a:cs typeface="Times New Roman"/>
                <a:sym typeface="Times New Roman"/>
              </a:rPr>
              <a:t>Github</a:t>
            </a:r>
            <a:r>
              <a:rPr lang="en-US" sz="1850">
                <a:solidFill>
                  <a:srgbClr val="2B3541"/>
                </a:solidFill>
                <a:latin typeface="Times New Roman"/>
                <a:ea typeface="Times New Roman"/>
                <a:cs typeface="Times New Roman"/>
                <a:sym typeface="Times New Roman"/>
              </a:rPr>
              <a:t> URL –</a:t>
            </a:r>
          </a:p>
          <a:p>
            <a:pPr lvl="0">
              <a:lnSpc>
                <a:spcPct val="162162"/>
              </a:lnSpc>
              <a:buClr>
                <a:srgbClr val="2B3541"/>
              </a:buClr>
              <a:buSzPts val="1850"/>
            </a:pPr>
            <a:r>
              <a:rPr lang="en-US" sz="1850" b="1">
                <a:solidFill>
                  <a:srgbClr val="2B3541"/>
                </a:solidFill>
                <a:latin typeface="Times New Roman"/>
                <a:ea typeface="Times New Roman"/>
                <a:cs typeface="Times New Roman"/>
                <a:sym typeface="Times New Roman"/>
              </a:rPr>
              <a:t>Make sure you have Uploaded following three files into your </a:t>
            </a:r>
            <a:r>
              <a:rPr lang="en-US" sz="1850" b="1" err="1">
                <a:solidFill>
                  <a:srgbClr val="2B3541"/>
                </a:solidFill>
                <a:latin typeface="Times New Roman"/>
                <a:ea typeface="Times New Roman"/>
                <a:cs typeface="Times New Roman"/>
                <a:sym typeface="Times New Roman"/>
              </a:rPr>
              <a:t>github</a:t>
            </a:r>
            <a:r>
              <a:rPr lang="en-US" sz="1850" b="1">
                <a:solidFill>
                  <a:srgbClr val="2B3541"/>
                </a:solidFill>
                <a:latin typeface="Times New Roman"/>
                <a:ea typeface="Times New Roman"/>
                <a:cs typeface="Times New Roman"/>
                <a:sym typeface="Times New Roman"/>
              </a:rPr>
              <a:t> repository  </a:t>
            </a:r>
            <a:br>
              <a:rPr lang="en-US" sz="1850">
                <a:solidFill>
                  <a:srgbClr val="2B3541"/>
                </a:solidFill>
                <a:latin typeface="Times New Roman"/>
                <a:ea typeface="Times New Roman"/>
                <a:cs typeface="Times New Roman"/>
                <a:sym typeface="Times New Roman"/>
              </a:rPr>
            </a:br>
            <a:r>
              <a:rPr lang="en-US" sz="185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a:solidFill>
                  <a:srgbClr val="2B3541"/>
                </a:solidFill>
                <a:latin typeface="Times New Roman"/>
                <a:ea typeface="Times New Roman"/>
                <a:cs typeface="Times New Roman"/>
                <a:sym typeface="Times New Roman"/>
              </a:rPr>
              <a:t>2.</a:t>
            </a:r>
            <a:r>
              <a:rPr lang="en-US" sz="1850" b="1" i="0" u="none" strike="noStrike" cap="none">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Please  add your </a:t>
            </a:r>
            <a:r>
              <a:rPr lang="en-US" sz="2400" b="1" dirty="0" err="1"/>
              <a:t>credly</a:t>
            </a:r>
            <a:r>
              <a:rPr lang="en-US" sz="2400" b="1" dirty="0"/>
              <a:t> certificate(Getting Started with Artificial Intelligence)  </a:t>
            </a:r>
          </a:p>
        </p:txBody>
      </p:sp>
      <p:grpSp>
        <p:nvGrpSpPr>
          <p:cNvPr id="8" name="Group 7">
            <a:extLst>
              <a:ext uri="{FF2B5EF4-FFF2-40B4-BE49-F238E27FC236}">
                <a16:creationId xmlns:a16="http://schemas.microsoft.com/office/drawing/2014/main" id="{F8E1A664-937F-0995-A503-E9C101158D8C}"/>
              </a:ext>
            </a:extLst>
          </p:cNvPr>
          <p:cNvGrpSpPr/>
          <p:nvPr/>
        </p:nvGrpSpPr>
        <p:grpSpPr>
          <a:xfrm>
            <a:off x="2407123" y="1423459"/>
            <a:ext cx="6389964" cy="4744480"/>
            <a:chOff x="2023664" y="1423459"/>
            <a:chExt cx="6389964" cy="4744480"/>
          </a:xfrm>
        </p:grpSpPr>
        <p:pic>
          <p:nvPicPr>
            <p:cNvPr id="5" name="Picture 4">
              <a:extLst>
                <a:ext uri="{FF2B5EF4-FFF2-40B4-BE49-F238E27FC236}">
                  <a16:creationId xmlns:a16="http://schemas.microsoft.com/office/drawing/2014/main" id="{ECA1DC75-9677-2534-42C6-0CCDB0680091}"/>
                </a:ext>
              </a:extLst>
            </p:cNvPr>
            <p:cNvPicPr>
              <a:picLocks noChangeAspect="1"/>
            </p:cNvPicPr>
            <p:nvPr/>
          </p:nvPicPr>
          <p:blipFill>
            <a:blip r:embed="rId2"/>
            <a:stretch>
              <a:fillRect/>
            </a:stretch>
          </p:blipFill>
          <p:spPr>
            <a:xfrm>
              <a:off x="2023664" y="1423459"/>
              <a:ext cx="6389964" cy="4744480"/>
            </a:xfrm>
            <a:prstGeom prst="rect">
              <a:avLst/>
            </a:prstGeom>
          </p:spPr>
        </p:pic>
        <p:sp>
          <p:nvSpPr>
            <p:cNvPr id="7" name="Rectangle 6">
              <a:extLst>
                <a:ext uri="{FF2B5EF4-FFF2-40B4-BE49-F238E27FC236}">
                  <a16:creationId xmlns:a16="http://schemas.microsoft.com/office/drawing/2014/main" id="{633BADBC-6623-0D21-CD7E-B05CE0A81B97}"/>
                </a:ext>
              </a:extLst>
            </p:cNvPr>
            <p:cNvSpPr/>
            <p:nvPr/>
          </p:nvSpPr>
          <p:spPr>
            <a:xfrm>
              <a:off x="2458065" y="2979175"/>
              <a:ext cx="4414683" cy="4498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ertificate with red text&#10;&#10;AI-generated content may be incorrect.">
            <a:extLst>
              <a:ext uri="{FF2B5EF4-FFF2-40B4-BE49-F238E27FC236}">
                <a16:creationId xmlns:a16="http://schemas.microsoft.com/office/drawing/2014/main" id="{099C3698-991D-7A38-C456-893C84C23FC9}"/>
              </a:ext>
            </a:extLst>
          </p:cNvPr>
          <p:cNvPicPr>
            <a:picLocks noChangeAspect="1"/>
          </p:cNvPicPr>
          <p:nvPr/>
        </p:nvPicPr>
        <p:blipFill>
          <a:blip r:embed="rId2"/>
          <a:srcRect r="177" b="-275"/>
          <a:stretch>
            <a:fillRect/>
          </a:stretch>
        </p:blipFill>
        <p:spPr>
          <a:xfrm>
            <a:off x="2512736" y="1712637"/>
            <a:ext cx="7177553" cy="4658577"/>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TotalTime>
  <Words>1340</Words>
  <Application>Microsoft Office PowerPoint</Application>
  <PresentationFormat>Widescreen</PresentationFormat>
  <Paragraphs>130</Paragraphs>
  <Slides>20</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Akash Debbarma</cp:lastModifiedBy>
  <cp:revision>4</cp:revision>
  <dcterms:created xsi:type="dcterms:W3CDTF">2025-07-08T05:06:56Z</dcterms:created>
  <dcterms:modified xsi:type="dcterms:W3CDTF">2026-09-09T14:18:50Z</dcterms:modified>
</cp:coreProperties>
</file>